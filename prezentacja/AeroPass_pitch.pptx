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Zdjęcie: MIT Lincoln Laboratory, LADI v2, CC BY 4.0, https://huggingface.co/datasets/MITLL/LADI-v2-dataset. Tytuł projektu: AeroPass. Wzór: skypass.pdf, układ biel i granat.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PSP rozwija zastosowania BSP w ratownictwie, w tym po powodzi: https://www.gov.pl/web/kgpsp/bezzalogowe-statki-powietrzne-w-panstwowej-strazy-pozarnej. Zdjęcie: https://huggingface.co/datasets/MITLL/LADI-v2-dataset. Wniosek o potrzebie kontekstu to hipoteza produktu do sprawdzenia z dyżurnymi.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DJI Matrice 30 jest przykładem sprzętu z kamerą i kontrolerem: https://enterprise.dji.com/matrice-30/specs. PSP korzysta z BSP: https://www.gov.pl/web/kgpsp/bezzalogowe-statki-powietrzne-w-panstwowej-strazy-pozarnej. Brak integracji DJI w obecnym kodzie.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Pokaz: wgranie zdjęcia, wyniki CLIP jako względne dopasowanie, korekta opisu, ręczne GPS i zatwierdzenie. Liczbę drzew wpisuje człowiek. Nie prezentować wyniku CLIP jako prawdopodobieństwa.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Obecny kod pokazuje zatwierdzone obserwacje na własnym panelu i eksportuje GeoJSON/KML. Nie ma działającej integracji ATAK ani systemu PSP. Taki film pokaż dopiero po przetestowaniu integracji.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DJI FlightHub 2 ma mapę, adnotacje, alerty AI z lokalizacją, obrazem i raportem: https://enterprise.dji.com/flighthub-2. TAK ma geolokalizowane zdjęcia: https://tak.gov/solutions/recreation. AeroPass dziś: lokalna weryfikacja operatora, GPS, obraz, źródło i eksport. Przewaga pozostaje hipotezą.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YOLO FloodNet: wyniki/metryki_decyzji.json w repo; dane https://github.com/BinaLab/FloodNet-Supervised_v1.0. 41/47 zalanych zdjęć wykrytych, 6/47 nierozstrzygniętych, 0/47 błędnie suchych w tej próbie. CLIP to inny model bez walidacji terenowej. LADI: 1500 obrazów referencyjnych, bez treningu: https://huggingface.co/datasets/MITLL/LADI-v2-dataset.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Proponowany pilotaż porównawczy: użycie posiadanych dronów, te same zdjęcia w obecnym obiegu i AeroPass, niezależna ocena operatorów. Mierniki: czas do potwierdzonego punktu, zgodność ocen, błędne sugestie, liczba braków GPS i źródła. Zakres, zgody, procedury i integrację trzeba ustalić z partnerem.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Prośba do jurorów i mentorów: kontakt z jednostką do pilotażu, dostęp do odpowiednio udostępnionych zdjęć, wsparcie walidacji i integracji z istniejącym obiegiem danych. Nie deklarować oszczędności ani gotowości operacyjnej bez pilotażu.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0" y="0"/>
            <a:ext cx="7874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9800" y="3124200"/>
            <a:ext cx="9271000" cy="165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0">
                <a:solidFill>
                  <a:srgbClr val="101970"/>
                </a:solidFill>
                <a:latin typeface="Arial"/>
              </a:rPr>
              <a:t>AeroPass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4826000"/>
            <a:ext cx="8763000" cy="146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01970"/>
                </a:solidFill>
                <a:latin typeface="Arial"/>
              </a:rPr>
              <a:t>Obserwacje z lotu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01970"/>
                </a:solidFill>
                <a:latin typeface="Arial"/>
              </a:rPr>
              <a:t>na mapie sztabu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8407400"/>
            <a:ext cx="8890000" cy="965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448C3"/>
                </a:solidFill>
                <a:latin typeface="Arial"/>
              </a:rPr>
              <a:t>Operator DJI · model na komputerze · zatwierdzony punkt GPS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Obraz z lotu potrzebuje kontekstu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8407400" cy="541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60000" y="3746500"/>
            <a:ext cx="6985000" cy="157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01970"/>
                </a:solidFill>
                <a:latin typeface="Arial"/>
              </a:rPr>
              <a:t>Co się stało?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0" y="4914900"/>
            <a:ext cx="69850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01970"/>
                </a:solidFill>
                <a:latin typeface="Arial"/>
              </a:rPr>
              <a:t>Gdzie dokładnie?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0" y="6096000"/>
            <a:ext cx="69850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01970"/>
                </a:solidFill>
                <a:latin typeface="Arial"/>
              </a:rPr>
              <a:t>Kto to potwierdził?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7645400"/>
            <a:ext cx="67945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16477"/>
                </a:solidFill>
                <a:latin typeface="Arial"/>
              </a:rPr>
              <a:t>Sztab potrzebuje odpowiedzi z obrazem, czasem 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16477"/>
                </a:solidFill>
                <a:latin typeface="Arial"/>
              </a:rPr>
              <a:t>źródłem.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Zdjęcie ilustracyjne: MIT Lincoln Laboratory, LADI v2, CC BY 4.0. USA, nie polska akcja.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PRZEPŁYW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Jedna obserwacja, dwa stanowiska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8400"/>
            <a:ext cx="34290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0" b="0">
                <a:solidFill>
                  <a:srgbClr val="101970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53000"/>
            <a:ext cx="3429000" cy="25400"/>
          </a:xfrm>
          <a:prstGeom prst="rect">
            <a:avLst/>
          </a:prstGeom>
          <a:solidFill>
            <a:srgbClr val="344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46700"/>
            <a:ext cx="3619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970"/>
                </a:solidFill>
                <a:latin typeface="Arial"/>
              </a:rPr>
              <a:t>Operator DJI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7600"/>
            <a:ext cx="3530600" cy="149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16477"/>
                </a:solidFill>
                <a:latin typeface="Arial"/>
              </a:rPr>
              <a:t>prowadzi lot i robi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16477"/>
                </a:solidFill>
                <a:latin typeface="Arial"/>
              </a:rPr>
              <a:t>zdjęcie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4600" y="3708400"/>
            <a:ext cx="34290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0" b="0">
                <a:solidFill>
                  <a:srgbClr val="101970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54600" y="4953000"/>
            <a:ext cx="3429000" cy="25400"/>
          </a:xfrm>
          <a:prstGeom prst="rect">
            <a:avLst/>
          </a:prstGeom>
          <a:solidFill>
            <a:srgbClr val="344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4600" y="5346700"/>
            <a:ext cx="3619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970"/>
                </a:solidFill>
                <a:latin typeface="Arial"/>
              </a:rPr>
              <a:t>Komputer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4600" y="6197600"/>
            <a:ext cx="3530600" cy="149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16477"/>
                </a:solidFill>
                <a:latin typeface="Arial"/>
              </a:rPr>
              <a:t>porównuje obraz z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16477"/>
                </a:solidFill>
                <a:latin typeface="Arial"/>
              </a:rPr>
              <a:t>opisami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4800" y="3708400"/>
            <a:ext cx="34290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0" b="0">
                <a:solidFill>
                  <a:srgbClr val="101970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4800" y="4953000"/>
            <a:ext cx="3429000" cy="25400"/>
          </a:xfrm>
          <a:prstGeom prst="rect">
            <a:avLst/>
          </a:prstGeom>
          <a:solidFill>
            <a:srgbClr val="344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4800" y="5346700"/>
            <a:ext cx="3619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970"/>
                </a:solidFill>
                <a:latin typeface="Arial"/>
              </a:rPr>
              <a:t>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4800" y="6197600"/>
            <a:ext cx="3530600" cy="149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16477"/>
                </a:solidFill>
                <a:latin typeface="Arial"/>
              </a:rPr>
              <a:t>weryfikuje i wskazuje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16477"/>
                </a:solidFill>
                <a:latin typeface="Arial"/>
              </a:rPr>
              <a:t>GPS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0" y="3708400"/>
            <a:ext cx="34290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0" b="0">
                <a:solidFill>
                  <a:srgbClr val="101970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35000" y="4953000"/>
            <a:ext cx="3429000" cy="25400"/>
          </a:xfrm>
          <a:prstGeom prst="rect">
            <a:avLst/>
          </a:prstGeom>
          <a:solidFill>
            <a:srgbClr val="344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335000" y="5346700"/>
            <a:ext cx="3619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970"/>
                </a:solidFill>
                <a:latin typeface="Arial"/>
              </a:rPr>
              <a:t>Sztab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0" y="6197600"/>
            <a:ext cx="3530600" cy="149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16477"/>
                </a:solidFill>
                <a:latin typeface="Arial"/>
              </a:rPr>
              <a:t>widzi potwierdzony 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PoC: import zdjęcia i GPS ręcznie. AeroPass nie wysyła komend do drona.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DEMO OPERATORA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Człowiek wybiera opis zdarzenia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65500"/>
            <a:ext cx="10744200" cy="552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4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8600" y="5156200"/>
            <a:ext cx="9525000" cy="88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>
                <a:solidFill>
                  <a:srgbClr val="3448C3"/>
                </a:solidFill>
                <a:latin typeface="Arial"/>
              </a:rPr>
              <a:t>WIDEO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3400" y="6223000"/>
            <a:ext cx="889000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16477"/>
                </a:solidFill>
                <a:latin typeface="Arial"/>
              </a:rPr>
              <a:t>zdjęcie · sugestie modelu · korekta · GPS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0" y="3581400"/>
            <a:ext cx="46355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448C3"/>
                </a:solidFill>
                <a:latin typeface="Arial"/>
              </a:rPr>
              <a:t>W pokazie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0" y="4521200"/>
            <a:ext cx="4699000" cy="1054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1970"/>
                </a:solidFill>
                <a:latin typeface="Arial"/>
              </a:rPr>
              <a:t>Model podsuwa kilka opisów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1970"/>
                </a:solidFill>
                <a:latin typeface="Arial"/>
              </a:rPr>
              <a:t>obrazu.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0" y="5918200"/>
            <a:ext cx="4699000" cy="144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1970"/>
                </a:solidFill>
                <a:latin typeface="Arial"/>
              </a:rPr>
              <a:t>Operator może wybrać inny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1970"/>
                </a:solidFill>
                <a:latin typeface="Arial"/>
              </a:rPr>
              <a:t>opis lub wpisać przeszkodę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1970"/>
                </a:solidFill>
                <a:latin typeface="Arial"/>
              </a:rPr>
              <a:t>ręcznie.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7848600"/>
            <a:ext cx="46990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1970"/>
                </a:solidFill>
                <a:latin typeface="Arial"/>
              </a:rPr>
              <a:t>Dopiero zatwierdzona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1970"/>
                </a:solidFill>
                <a:latin typeface="Arial"/>
              </a:rPr>
              <a:t>obserwacja trafia dalej.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WIDEO 1: 18 sekund. Nagraj lokalny interfejs operatora na prawdziwym, opisanym źródłowo zdjęciu.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DEMO SZTABU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Punkt GPS z dowodem na mapie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65500"/>
            <a:ext cx="10744200" cy="552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4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8600" y="5156200"/>
            <a:ext cx="9525000" cy="88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>
                <a:solidFill>
                  <a:srgbClr val="3448C3"/>
                </a:solidFill>
                <a:latin typeface="Arial"/>
              </a:rPr>
              <a:t>WIDEO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3400" y="6223000"/>
            <a:ext cx="889000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16477"/>
                </a:solidFill>
                <a:latin typeface="Arial"/>
              </a:rPr>
              <a:t>panel sztabu · punkt · zdjęcie · eksport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0" y="3632200"/>
            <a:ext cx="4826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448C3"/>
                </a:solidFill>
                <a:latin typeface="Arial"/>
              </a:rPr>
              <a:t>W punkcie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0" y="4495800"/>
            <a:ext cx="4889500" cy="311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01970"/>
                </a:solidFill>
                <a:latin typeface="Arial"/>
              </a:rPr>
              <a:t>Rodzaj zdarzenia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01970"/>
                </a:solidFill>
                <a:latin typeface="Arial"/>
              </a:rPr>
              <a:t>GPS miejsca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01970"/>
                </a:solidFill>
                <a:latin typeface="Arial"/>
              </a:rPr>
              <a:t>Obraz i źródło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01970"/>
                </a:solidFill>
                <a:latin typeface="Arial"/>
              </a:rPr>
              <a:t>Operator i czas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0" y="8102600"/>
            <a:ext cx="4953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3448C3"/>
                </a:solidFill>
                <a:latin typeface="Arial"/>
              </a:rPr>
              <a:t>GeoJSON / KML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WIDEO 2: 15 sekund. Pokaż panel AeroPass, zdjęcie, operatora, czas i eksport GeoJSON.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ISTNIEJĄCE NARZĘDZIA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Obecne narzędzia i AeroPass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4100"/>
            <a:ext cx="74930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01970"/>
                </a:solidFill>
                <a:latin typeface="Arial"/>
              </a:rPr>
              <a:t>DJI FlightHub 2 / TAK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14900"/>
            <a:ext cx="7302500" cy="218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616477"/>
                </a:solidFill>
                <a:latin typeface="Arial"/>
              </a:rPr>
              <a:t>Zdjęcia, mapa i adnotacje już istnieją.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616477"/>
                </a:solidFill>
                <a:latin typeface="Arial"/>
              </a:rPr>
              <a:t>FlightHub 2 ma również alerty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2400" y="3467100"/>
            <a:ext cx="0" cy="39751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6000" y="3594100"/>
            <a:ext cx="6959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01970"/>
                </a:solidFill>
                <a:latin typeface="Arial"/>
              </a:rPr>
              <a:t>AeroPass dziś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4914900"/>
            <a:ext cx="6921500" cy="23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616477"/>
                </a:solidFill>
                <a:latin typeface="Arial"/>
              </a:rPr>
              <a:t>Operator weryfikuje opis. Punkt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616477"/>
                </a:solidFill>
                <a:latin typeface="Arial"/>
              </a:rPr>
              <a:t>zachowuje źródło i GPS; działa eksport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616477"/>
                </a:solidFill>
                <a:latin typeface="Arial"/>
              </a:rPr>
              <a:t>GIS.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747000"/>
            <a:ext cx="16459200" cy="25400"/>
          </a:xfrm>
          <a:prstGeom prst="rect">
            <a:avLst/>
          </a:prstGeom>
          <a:solidFill>
            <a:srgbClr val="344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8178800"/>
            <a:ext cx="158750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3448C3"/>
                </a:solidFill>
                <a:latin typeface="Arial"/>
              </a:rPr>
              <a:t>Hipoteza: ustrukturyzowany meldunek powodziowy pomaga sztabowi.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Korzyść ponad obecne narzędzia wymaga pilotażu porównawczego.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DOWODY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Wynik modelu ma wyraźne granice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2500"/>
            <a:ext cx="7010400" cy="167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200" b="0">
                <a:solidFill>
                  <a:srgbClr val="101970"/>
                </a:solidFill>
                <a:latin typeface="Arial"/>
              </a:rPr>
              <a:t>41 /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34000"/>
            <a:ext cx="739140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01970"/>
                </a:solidFill>
                <a:latin typeface="Arial"/>
              </a:rPr>
              <a:t>zalanych zdjęć FloodNet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01970"/>
                </a:solidFill>
                <a:latin typeface="Arial"/>
              </a:rPr>
              <a:t>wykrył badawczy YOLO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3429000"/>
            <a:ext cx="0" cy="51308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6000" y="3505200"/>
            <a:ext cx="7112000" cy="965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01970"/>
                </a:solidFill>
                <a:latin typeface="Arial"/>
              </a:rPr>
              <a:t>CLIP w pokazie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4749800"/>
            <a:ext cx="7048500" cy="254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616477"/>
                </a:solidFill>
                <a:latin typeface="Arial"/>
              </a:rPr>
              <a:t>Wynik to względne dopasowanie do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616477"/>
                </a:solidFill>
                <a:latin typeface="Arial"/>
              </a:rPr>
              <a:t>opisów. Skuteczność na polskich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616477"/>
                </a:solidFill>
                <a:latin typeface="Arial"/>
              </a:rPr>
              <a:t>ujęciach pozostaje nieznana.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7658100"/>
            <a:ext cx="7048500" cy="88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448C3"/>
                </a:solidFill>
                <a:latin typeface="Arial"/>
              </a:rPr>
              <a:t>1 500 zdjęć LADI to źródła, bez treningu modelu.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FloodNet: USA, test zdjęciowy. CLIP w interfejsie operatora nie ma walidacji na polskich lotach.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WDROŻENIE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Pilotaż z jednostką PSP lub OSP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56000"/>
            <a:ext cx="7175500" cy="850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01970"/>
                </a:solidFill>
                <a:latin typeface="Arial"/>
              </a:rPr>
              <a:t>Materiały z ćwiczeń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35500"/>
            <a:ext cx="7366000" cy="143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616477"/>
                </a:solidFill>
                <a:latin typeface="Arial"/>
              </a:rPr>
              <a:t>Zdjęcia z posiadanego sprzętu DJI, opisane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616477"/>
                </a:solidFill>
                <a:latin typeface="Arial"/>
              </a:rPr>
              <a:t>przez operatorów.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80500" y="3429000"/>
            <a:ext cx="0" cy="52197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31400" y="3556000"/>
            <a:ext cx="6985000" cy="850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01970"/>
                </a:solidFill>
                <a:latin typeface="Arial"/>
              </a:rPr>
              <a:t>Mierzymy w praktyce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00" y="4635500"/>
            <a:ext cx="6921500" cy="304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616477"/>
                </a:solidFill>
                <a:latin typeface="Arial"/>
              </a:rPr>
              <a:t>Czas od zdjęcia do punktu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616477"/>
                </a:solidFill>
                <a:latin typeface="Arial"/>
              </a:rPr>
              <a:t>Zgodność ocen operatorów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616477"/>
                </a:solidFill>
                <a:latin typeface="Arial"/>
              </a:rPr>
              <a:t>Błędy i przypadki „nie wiem”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616477"/>
                </a:solidFill>
                <a:latin typeface="Arial"/>
              </a:rPr>
              <a:t>Jakość lokalizacji GPS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Ten sam materiał: obecny obieg pracy i AeroPass. To propozycja, nie wynik pilotażu.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318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48C3"/>
                </a:solidFill>
                <a:latin typeface="Arial"/>
              </a:rPr>
              <a:t>AEROPASS / ZAPROSZENIE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81000" y="431800"/>
            <a:ext cx="429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DUAL USE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77900"/>
            <a:ext cx="16459200" cy="25400"/>
          </a:xfrm>
          <a:prstGeom prst="rect">
            <a:avLst/>
          </a:prstGeom>
          <a:solidFill>
            <a:srgbClr val="D9D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2100"/>
            <a:ext cx="161925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101970"/>
                </a:solidFill>
                <a:latin typeface="Arial"/>
              </a:rPr>
              <a:t>Szukamy partnera do walidacji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3800"/>
            <a:ext cx="16129000" cy="167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900" b="0">
                <a:solidFill>
                  <a:srgbClr val="101970"/>
                </a:solidFill>
                <a:latin typeface="Arial"/>
              </a:rPr>
              <a:t>AeroPass porządkuje dane z lotu,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900" b="0">
                <a:solidFill>
                  <a:srgbClr val="101970"/>
                </a:solidFill>
                <a:latin typeface="Arial"/>
              </a:rPr>
              <a:t>który operator i tak wykonuje.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604000"/>
            <a:ext cx="16459200" cy="38100"/>
          </a:xfrm>
          <a:prstGeom prst="rect">
            <a:avLst/>
          </a:prstGeom>
          <a:solidFill>
            <a:srgbClr val="344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213600"/>
            <a:ext cx="15240000" cy="1219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3448C3"/>
                </a:solidFill>
                <a:latin typeface="Arial"/>
              </a:rPr>
              <a:t>Pierwszy cel: wiarygodny, potwierdzony punkt dla sztabu.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575800"/>
            <a:ext cx="15494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6477"/>
                </a:solidFill>
                <a:latin typeface="Arial"/>
              </a:rPr>
              <a:t>Następny krok: wspólne ćwiczenie na zdjęciach z polskich lotów i ocena procesu przez operatorów.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25900" y="9575800"/>
            <a:ext cx="63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48C3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